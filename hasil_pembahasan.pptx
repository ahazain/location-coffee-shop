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Grid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F4E"/>
              </a:solidFill>
              <a:effectLst/>
            </c:spPr>
          </c:dPt>
          <c:dPt>
            <c:idx val="1"/>
            <c:bubble3D val="0"/>
            <c:spPr>
              <a:solidFill>
                <a:srgbClr val="D9CF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Layak (271)</c:v>
                </c:pt>
                <c:pt idx="1">
                  <c:v>Tidak layak / constraint (179)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271</c:v>
                </c:pt>
                <c:pt idx="1">
                  <c:v>179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E272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Bobot Kriteria</c:v>
                </c:pt>
              </c:strCache>
            </c:strRef>
          </c:tx>
          <c:spPr>
            <a:solidFill>
              <a:srgbClr val="2F6F4E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27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Persaingan</c:v>
                  </c:pt>
                  <c:pt idx="1">
                    <c:v>Kondisi Ekonomi</c:v>
                  </c:pt>
                  <c:pt idx="2">
                    <c:v>Aksesibilitas Transportasi</c:v>
                  </c:pt>
                  <c:pt idx="3">
                    <c:v>Zona Fungsional Kota</c:v>
                  </c:pt>
                  <c:pt idx="4">
                    <c:v>Permintaan Pasar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5.25</c:v>
                </c:pt>
                <c:pt idx="1">
                  <c:v>8.67</c:v>
                </c:pt>
                <c:pt idx="2">
                  <c:v>14.59</c:v>
                </c:pt>
                <c:pt idx="3">
                  <c:v>14.59</c:v>
                </c:pt>
                <c:pt idx="4">
                  <c:v>56.9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E27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1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Bobot Akhir</c:v>
                </c:pt>
              </c:strCache>
            </c:strRef>
          </c:tx>
          <c:spPr>
            <a:solidFill>
              <a:srgbClr val="2F6F4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E27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Kepadatan coffee shop eksisting</c:v>
                  </c:pt>
                  <c:pt idx="1">
                    <c:v>Kawasan hunian</c:v>
                  </c:pt>
                  <c:pt idx="2">
                    <c:v>Kepadatan simpang jalan</c:v>
                  </c:pt>
                  <c:pt idx="3">
                    <c:v>Kepadatan populasi</c:v>
                  </c:pt>
                  <c:pt idx="4">
                    <c:v>Kedekatan simpul transportasi</c:v>
                  </c:pt>
                  <c:pt idx="5">
                    <c:v>Olahraga &amp; rekreasi</c:v>
                  </c:pt>
                  <c:pt idx="6">
                    <c:v>Kantor, bank, jasa keuangan</c:v>
                  </c:pt>
                  <c:pt idx="7">
                    <c:v>Jarak ke pesaing terdekat</c:v>
                  </c:pt>
                  <c:pt idx="8">
                    <c:v>Intensitas cahaya malam</c:v>
                  </c:pt>
                  <c:pt idx="9">
                    <c:v>Jarak ke jalan utama</c:v>
                  </c:pt>
                  <c:pt idx="10">
                    <c:v>Kedekatan pusat belanja</c:v>
                  </c:pt>
                  <c:pt idx="11">
                    <c:v>Kepadatan kampus &amp; fasilitas pendidikan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1.7</c:v>
                </c:pt>
                <c:pt idx="1">
                  <c:v>2.5</c:v>
                </c:pt>
                <c:pt idx="2">
                  <c:v>2.5</c:v>
                </c:pt>
                <c:pt idx="3">
                  <c:v>2.8</c:v>
                </c:pt>
                <c:pt idx="4">
                  <c:v>4.12</c:v>
                </c:pt>
                <c:pt idx="5">
                  <c:v>4.12</c:v>
                </c:pt>
                <c:pt idx="6">
                  <c:v>4.81</c:v>
                </c:pt>
                <c:pt idx="7">
                  <c:v>3.55</c:v>
                </c:pt>
                <c:pt idx="8">
                  <c:v>5.87</c:v>
                </c:pt>
                <c:pt idx="9">
                  <c:v>7.97</c:v>
                </c:pt>
                <c:pt idx="10">
                  <c:v>8.28</c:v>
                </c:pt>
                <c:pt idx="11">
                  <c:v>43.81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3E27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21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Sesuai</c:v>
                </c:pt>
              </c:strCache>
            </c:strRef>
          </c:tx>
          <c:spPr>
            <a:solidFill>
              <a:srgbClr val="2F6F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Grid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Cukup Sesuai</c:v>
                </c:pt>
              </c:strCache>
            </c:strRef>
          </c:tx>
          <c:spPr>
            <a:solidFill>
              <a:srgbClr val="D99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Grid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Kurang Sesuai</c:v>
                </c:pt>
              </c:strCache>
            </c:strRef>
          </c:tx>
          <c:spPr>
            <a:solidFill>
              <a:srgbClr val="B2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Grid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3E272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5D403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5D4037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dan Pembahasan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Berbasis Spasial Multikriteria untuk Menentukan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4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Coffee Shop Menggunakan Metode Weighted Linear Combination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C9A6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Farid Zainudin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B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222410102093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Informasi — Fakultas Ilmu Komputer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Jember,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Tahapan Hasil Penelitian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tahapan yang dibahas pada Bab 4, dari pengumpulan data hingga desain sistem WebGIS.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536192" cy="1536192"/>
          </a:xfrm>
          <a:prstGeom prst="roundRect">
            <a:avLst>
              <a:gd name="adj" fmla="val 8333"/>
            </a:avLst>
          </a:prstGeom>
          <a:solidFill>
            <a:srgbClr val="2F6F4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31720"/>
            <a:ext cx="15361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2331720"/>
            <a:ext cx="1325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3250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45152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POI, jalan, populasi,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cahaya malam, pembatas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25980" y="2331720"/>
            <a:ext cx="1536192" cy="1536192"/>
          </a:xfrm>
          <a:prstGeom prst="roundRect">
            <a:avLst>
              <a:gd name="adj" fmla="val 8333"/>
            </a:avLst>
          </a:prstGeom>
          <a:solidFill>
            <a:srgbClr val="5B8F6E"/>
          </a:solidFill>
          <a:ln/>
        </p:spPr>
      </p:sp>
      <p:sp>
        <p:nvSpPr>
          <p:cNvPr id="12" name="Text 10"/>
          <p:cNvSpPr/>
          <p:nvPr/>
        </p:nvSpPr>
        <p:spPr>
          <a:xfrm>
            <a:off x="2125980" y="2331720"/>
            <a:ext cx="15361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62172" y="2331720"/>
            <a:ext cx="1325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25980" y="403250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5980" y="4645152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grid analisis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 m x 463 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94760" y="2331720"/>
            <a:ext cx="1536192" cy="1536192"/>
          </a:xfrm>
          <a:prstGeom prst="roundRect">
            <a:avLst>
              <a:gd name="adj" fmla="val 8333"/>
            </a:avLst>
          </a:prstGeom>
          <a:solidFill>
            <a:srgbClr val="C9A66B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2331720"/>
            <a:ext cx="15361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30952" y="2331720"/>
            <a:ext cx="1325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403250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Fuzzy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4645152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increasing,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decreasing, near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63540" y="2331720"/>
            <a:ext cx="1536192" cy="1536192"/>
          </a:xfrm>
          <a:prstGeom prst="roundRect">
            <a:avLst>
              <a:gd name="adj" fmla="val 8333"/>
            </a:avLst>
          </a:prstGeom>
          <a:solidFill>
            <a:srgbClr val="5D4037"/>
          </a:solidFill>
          <a:ln/>
        </p:spPr>
      </p:sp>
      <p:sp>
        <p:nvSpPr>
          <p:cNvPr id="22" name="Text 20"/>
          <p:cNvSpPr/>
          <p:nvPr/>
        </p:nvSpPr>
        <p:spPr>
          <a:xfrm>
            <a:off x="5463540" y="2331720"/>
            <a:ext cx="15361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99732" y="2331720"/>
            <a:ext cx="1325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63540" y="403250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Pembobotan AHP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63540" y="4645152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kriteria &amp;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(CR &lt; 0,1)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2331720"/>
            <a:ext cx="1536192" cy="1536192"/>
          </a:xfrm>
          <a:prstGeom prst="roundRect">
            <a:avLst>
              <a:gd name="adj" fmla="val 8333"/>
            </a:avLst>
          </a:prstGeom>
          <a:solidFill>
            <a:srgbClr val="2F6F4E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331720"/>
            <a:ext cx="15361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668512" y="2331720"/>
            <a:ext cx="1325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403250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WLC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4645152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&amp; kelas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kesesuaian lokasi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801100" y="2331720"/>
            <a:ext cx="1536192" cy="1536192"/>
          </a:xfrm>
          <a:prstGeom prst="roundRect">
            <a:avLst>
              <a:gd name="adj" fmla="val 8333"/>
            </a:avLst>
          </a:prstGeom>
          <a:solidFill>
            <a:srgbClr val="C9A66B"/>
          </a:solidFill>
          <a:ln/>
        </p:spPr>
      </p:sp>
      <p:sp>
        <p:nvSpPr>
          <p:cNvPr id="32" name="Text 30"/>
          <p:cNvSpPr/>
          <p:nvPr/>
        </p:nvSpPr>
        <p:spPr>
          <a:xfrm>
            <a:off x="8801100" y="2331720"/>
            <a:ext cx="15361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0337292" y="2331720"/>
            <a:ext cx="1325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01100" y="403250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Spasial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01100" y="4645152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sampel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wilayah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469880" y="2331720"/>
            <a:ext cx="1536192" cy="1536192"/>
          </a:xfrm>
          <a:prstGeom prst="roundRect">
            <a:avLst>
              <a:gd name="adj" fmla="val 8333"/>
            </a:avLst>
          </a:prstGeom>
          <a:solidFill>
            <a:srgbClr val="5D4037"/>
          </a:solidFill>
          <a:ln/>
        </p:spPr>
      </p:sp>
      <p:sp>
        <p:nvSpPr>
          <p:cNvPr id="37" name="Text 35"/>
          <p:cNvSpPr/>
          <p:nvPr/>
        </p:nvSpPr>
        <p:spPr>
          <a:xfrm>
            <a:off x="10469880" y="2331720"/>
            <a:ext cx="15361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10469880" y="4032504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469880" y="4645152"/>
            <a:ext cx="1536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WebGIS interaktif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Pengambilan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spasial dan data pembobotan dikumpulkan dari berbagai sumber untuk wilayah Patrang, Kaliwates, dan Sumbersari.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1122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5877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POI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pendidikan, olahraga &amp; rekreasi, kantor/jasa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keuangan, pusat belanja, layanan makan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1122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km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80560" y="25877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jalan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titik simpang jalan hasil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data OpenStreetMap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21122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369.415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75320" y="25877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jiwa penduduk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2926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BPS 2024 pada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kelurahan di 3 kecamatan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0965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0,06–36,8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" y="4572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nW/cm2/sr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49103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intensitas cahaya malam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(VIIRS Nighttime Light, raster 463 m)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395020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40965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3.035 ha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480560" y="4572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+ 19 km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80560" y="49103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pembatas lahan: area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persawahan dan sungai (RBI)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395020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75320" y="40965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titik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75320" y="4572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eksisting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75320" y="49103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perhitungan kepadatan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jarak ke pesaing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 diolah menjadi 450 unit grid analisis berukuran 463 m x 463 m, lengkap dengan status kelayakan lahan.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Kelayakan Grid (Constraint)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240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grid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Rentang Nilai Indikator (mentah)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240280"/>
          <a:ext cx="5943600" cy="3566160"/>
        </p:xfrm>
        <a:graphic>
          <a:graphicData uri="http://schemas.openxmlformats.org/drawingml/2006/table">
            <a:tbl>
              <a:tblPr/>
              <a:tblGrid>
                <a:gridCol w="2834640"/>
                <a:gridCol w="960120"/>
                <a:gridCol w="1280160"/>
                <a:gridCol w="86868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Indikator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Kepadatan layanan makan non-cafe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Kepadatan kampus &amp; fasilitas pendidikan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Kepadatan kantor, bank, jasa keuangan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ke jalan utama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8.989,8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Kedekatan simpul transportasi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12.872,7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Kepadatan coffee shop eksisting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Indikator Berbasis Fuzzy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13 indikator dikonversi ke skala fuzzy 0–1 menggunakan tiga fungsi keanggotaan sesuai arah pengaruhnya.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21992"/>
            <a:ext cx="502920" cy="50292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Linear Increasing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326440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indikator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3593592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indikator semakin tinggi → semakin sesuai.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4251960"/>
            <a:ext cx="3099816" cy="0"/>
          </a:xfrm>
          <a:prstGeom prst="line">
            <a:avLst/>
          </a:prstGeom>
          <a:noFill/>
          <a:ln w="12700">
            <a:solidFill>
              <a:srgbClr val="DFD5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361688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makan non-cafe · Olahraga &amp; rekreasi · Kawasan hunian · Kantor/bank/jasa keuangan · Kampus &amp; pendidikan · Cahaya malam · Populasi · Simpang jalan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196596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07992" y="2221992"/>
            <a:ext cx="502920" cy="50292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07992" y="28346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Linear Decreasing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326440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indikator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07992" y="3593592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dekat jarak → semakin sesuai.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07992" y="4251960"/>
            <a:ext cx="3099816" cy="0"/>
          </a:xfrm>
          <a:prstGeom prst="line">
            <a:avLst/>
          </a:prstGeom>
          <a:noFill/>
          <a:ln w="12700">
            <a:solidFill>
              <a:srgbClr val="DFD5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4361688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ke jalan utama (150 m) · Kedekatan simpul transportasi (800 m) · Kedekatan pusat belanja (400 m)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0" y="196596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02752" y="2221992"/>
            <a:ext cx="502920" cy="502920"/>
          </a:xfrm>
          <a:prstGeom prst="ellipse">
            <a:avLst/>
          </a:prstGeom>
          <a:solidFill>
            <a:srgbClr val="5D4037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02752" y="28346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Near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02752" y="326440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indikator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02752" y="3593592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optimum berada di titik tengah tertentu (midpoint), bukan di ekstrem.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02752" y="4251960"/>
            <a:ext cx="3099816" cy="0"/>
          </a:xfrm>
          <a:prstGeom prst="line">
            <a:avLst/>
          </a:prstGeom>
          <a:noFill/>
          <a:ln w="12700">
            <a:solidFill>
              <a:srgbClr val="DFD5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4361688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Kepadatan coffee shop eksisting · Jarak ke coffee shop eksisting terdekat (spread = 0,2)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Pembobotan AHP — Bobot Kriteria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bobot dari 3 responden (Omah Kulos, Cafe Nuansa, Cafe Wijaya). Seluruh nilai Consistency Ratio (CR) = 0,01 — konsisten.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2024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92024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3E2723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PASAR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2514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56,90%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046720" y="32918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paling dominan dalam penentuan lokasi coffee shop, jauh melampaui empat kriteria lainnya.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4114800"/>
            <a:ext cx="3383280" cy="0"/>
          </a:xfrm>
          <a:prstGeom prst="line">
            <a:avLst/>
          </a:prstGeom>
          <a:noFill/>
          <a:ln w="12700">
            <a:solidFill>
              <a:srgbClr val="6B5A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B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CR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46720" y="4526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8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  &lt;  0,1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046720" y="4983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 ketiga responden dinyatakan konsisten pada seluruh tingkat hierarki.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Pembobotan AHP — Bobot Akhir Indikator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akhir = bobot kriteria x bobot lokal indikator. Nilai ini menjadi bobot default pada perhitungan WLC.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112471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WLC — Distribusi Kelas Kesesuaian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WLC dihitung untuk 450 grid, lalu diklasifikasikan dengan Jenks Natural Breaks menjadi 3 kelas kesesuaian.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1E8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139696"/>
            <a:ext cx="256032" cy="256032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084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4871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grid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" y="298094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5,33% dari total 450 grid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3291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&gt; 0,3013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19202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1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7992" y="2139696"/>
            <a:ext cx="256032" cy="256032"/>
          </a:xfrm>
          <a:prstGeom prst="ellipse">
            <a:avLst/>
          </a:prstGeom>
          <a:solidFill>
            <a:srgbClr val="D99B3F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2084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Sesuai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24871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9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 grid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07992" y="298094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27,33% dari total 450 grid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07992" y="3291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0,1007 &lt; Skor ≤ 0,3013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19202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1E8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2139696"/>
            <a:ext cx="256032" cy="256032"/>
          </a:xfrm>
          <a:prstGeom prst="ellipse">
            <a:avLst/>
          </a:prstGeom>
          <a:solidFill>
            <a:srgbClr val="B23A2F"/>
          </a:solidFill>
          <a:ln/>
        </p:spPr>
      </p:sp>
      <p:sp>
        <p:nvSpPr>
          <p:cNvPr id="20" name="Text 18"/>
          <p:cNvSpPr/>
          <p:nvPr/>
        </p:nvSpPr>
        <p:spPr>
          <a:xfrm>
            <a:off x="8668512" y="2084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Sesuai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02752" y="24871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303 grid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02752" y="298094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67,33% dari total 450 grid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02752" y="3291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≤ 0,1007 / kena constraint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Kelas Kesesuaian (450 grid)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4434840"/>
          <a:ext cx="1124712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kelas Sesuai terkonsentrasi di sekitar kampus, jalan utama, dan pusat komersial (Kepatihan, Jemberlor, Sumbersari); mayoritas wilayah pinggiran tergolong Kurang Sesuai karena rendahnya cahaya malam/populasi atau terkena pembatas sawah dan sungai.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WLC — Lokasi Grid Terbaik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Sepuluh grid dengan skor WLC tertinggi terpusat di Kaliwates, Patrang, dan Sumbersari.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416052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2468880"/>
                <a:gridCol w="1097280"/>
                <a:gridCol w="5303520"/>
              </a:tblGrid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Peringkat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Grid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Kelurahan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 WLC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Indikator Dominan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GRID-654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Kepatihan, Kaliwates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Kedekatan pusat belanja; kepadatan kampus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GRID-653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Kepatihan, Kaliwates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Kedekatan pusat belanja; kantor &amp; jasa keuangan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GRID-625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Jemberlor, Patrang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Cahaya malam; jarak ke jalan utama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GRID-627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Sumbersari, Sumbersari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jalan utama; olahraga &amp; rekreasi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GRID-628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Sumbersari, Sumbersari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jalan utama; olahraga &amp; rekreasi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GRID-758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Mangli, Kaliwates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jalan utama; kedekatan pusat belanja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GRID-682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Kepatihan, Kaliwates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jalan utama; kepadatan populasi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GRID-624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Kepatihan, Kaliwates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Kepadatan populasi; kantor &amp; jasa keuangan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447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tertinggi: GRID-654 (Kel. Kepatihan) = 0,7478 — lokasi paling direkomendasikan pada bobot default.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Spasial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grid sampel diperiksa untuk membuktikan mekanisme WLC bekerja konsisten sesuai rancangan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24912" cy="4160520"/>
          </a:xfrm>
          <a:prstGeom prst="roundRect">
            <a:avLst>
              <a:gd name="adj" fmla="val 3020"/>
            </a:avLst>
          </a:prstGeom>
          <a:solidFill>
            <a:srgbClr val="F7F1E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2359152" cy="274320"/>
          </a:xfrm>
          <a:prstGeom prst="roundRect">
            <a:avLst>
              <a:gd name="adj" fmla="val 20000"/>
            </a:avLst>
          </a:prstGeom>
          <a:solidFill>
            <a:srgbClr val="B23A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Sesuai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GRID-487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Kepadatan pesaing tertinggi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4015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WLC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0,000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2359152" cy="0"/>
          </a:xfrm>
          <a:prstGeom prst="line">
            <a:avLst/>
          </a:prstGeom>
          <a:noFill/>
          <a:ln w="12700">
            <a:solidFill>
              <a:srgbClr val="DFD5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15968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Kepadatan coffee shop eksisting 0,802 (tertinggi), namun berada pada area sawah → constraint = 0 meniadakan skor secara mutlak.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9272" y="1920240"/>
            <a:ext cx="2724912" cy="4160520"/>
          </a:xfrm>
          <a:prstGeom prst="roundRect">
            <a:avLst>
              <a:gd name="adj" fmla="val 3020"/>
            </a:avLst>
          </a:prstGeom>
          <a:solidFill>
            <a:srgbClr val="F7F1E8"/>
          </a:solidFill>
          <a:ln/>
        </p:spPr>
      </p:sp>
      <p:sp>
        <p:nvSpPr>
          <p:cNvPr id="16" name="Shape 14"/>
          <p:cNvSpPr/>
          <p:nvPr/>
        </p:nvSpPr>
        <p:spPr>
          <a:xfrm>
            <a:off x="3502152" y="2103120"/>
            <a:ext cx="2359152" cy="274320"/>
          </a:xfrm>
          <a:prstGeom prst="roundRect">
            <a:avLst>
              <a:gd name="adj" fmla="val 20000"/>
            </a:avLst>
          </a:prstGeom>
          <a:solidFill>
            <a:srgbClr val="2F6F4E"/>
          </a:solidFill>
          <a:ln/>
        </p:spPr>
      </p:sp>
      <p:sp>
        <p:nvSpPr>
          <p:cNvPr id="17" name="Text 15"/>
          <p:cNvSpPr/>
          <p:nvPr/>
        </p:nvSpPr>
        <p:spPr>
          <a:xfrm>
            <a:off x="3502152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02152" y="24871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GRID-758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02152" y="28529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pesaing, kelas Sesuai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02152" y="34015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WLC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2152" y="36118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0,501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502152" y="4206240"/>
            <a:ext cx="2359152" cy="0"/>
          </a:xfrm>
          <a:prstGeom prst="line">
            <a:avLst/>
          </a:prstGeom>
          <a:noFill/>
          <a:ln w="12700">
            <a:solidFill>
              <a:srgbClr val="DFD5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4315968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fuzzy kepadatan kampus 0,5165 (bobot 43,81%) didukung jarak jalan utama &amp; pusat belanja maksimal.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81344" y="1920240"/>
            <a:ext cx="2724912" cy="4160520"/>
          </a:xfrm>
          <a:prstGeom prst="roundRect">
            <a:avLst>
              <a:gd name="adj" fmla="val 3020"/>
            </a:avLst>
          </a:prstGeom>
          <a:solidFill>
            <a:srgbClr val="F7F1E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64224" y="2103120"/>
            <a:ext cx="2359152" cy="274320"/>
          </a:xfrm>
          <a:prstGeom prst="roundRect">
            <a:avLst>
              <a:gd name="adj" fmla="val 20000"/>
            </a:avLst>
          </a:prstGeom>
          <a:solidFill>
            <a:srgbClr val="D99B3F"/>
          </a:solidFill>
          <a:ln/>
        </p:spPr>
      </p:sp>
      <p:sp>
        <p:nvSpPr>
          <p:cNvPr id="26" name="Text 24"/>
          <p:cNvSpPr/>
          <p:nvPr/>
        </p:nvSpPr>
        <p:spPr>
          <a:xfrm>
            <a:off x="6364224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Sesuai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64224" y="24871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GRID-836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64224" y="28529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pesaing, kelas Kurang Sesuai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64224" y="34015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WLC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64224" y="36118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0,100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364224" y="4206240"/>
            <a:ext cx="2359152" cy="0"/>
          </a:xfrm>
          <a:prstGeom prst="line">
            <a:avLst/>
          </a:prstGeom>
          <a:noFill/>
          <a:ln w="12700">
            <a:solidFill>
              <a:srgbClr val="DFD5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4315968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fuzzy kepadatan kampus hampir nol (0,0023) meski jarak ke jalan utama maksimal.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43416" y="1920240"/>
            <a:ext cx="2724912" cy="4160520"/>
          </a:xfrm>
          <a:prstGeom prst="roundRect">
            <a:avLst>
              <a:gd name="adj" fmla="val 3020"/>
            </a:avLst>
          </a:prstGeom>
          <a:solidFill>
            <a:srgbClr val="F7F1E8"/>
          </a:solidFill>
          <a:ln/>
        </p:spPr>
      </p:sp>
      <p:sp>
        <p:nvSpPr>
          <p:cNvPr id="34" name="Shape 32"/>
          <p:cNvSpPr/>
          <p:nvPr/>
        </p:nvSpPr>
        <p:spPr>
          <a:xfrm>
            <a:off x="9226296" y="2103120"/>
            <a:ext cx="2359152" cy="274320"/>
          </a:xfrm>
          <a:prstGeom prst="roundRect">
            <a:avLst>
              <a:gd name="adj" fmla="val 20000"/>
            </a:avLst>
          </a:prstGeom>
          <a:solidFill>
            <a:srgbClr val="B23A2F"/>
          </a:solidFill>
          <a:ln/>
        </p:spPr>
      </p:sp>
      <p:sp>
        <p:nvSpPr>
          <p:cNvPr id="35" name="Text 33"/>
          <p:cNvSpPr/>
          <p:nvPr/>
        </p:nvSpPr>
        <p:spPr>
          <a:xfrm>
            <a:off x="9226296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Sesuai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26296" y="24871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GRID-040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226296" y="28529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constraint kosong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26296" y="34015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WLC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26296" y="36118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0,000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9226296" y="4206240"/>
            <a:ext cx="2359152" cy="0"/>
          </a:xfrm>
          <a:prstGeom prst="line">
            <a:avLst/>
          </a:prstGeom>
          <a:noFill/>
          <a:ln w="12700">
            <a:solidFill>
              <a:srgbClr val="DFD5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26296" y="4315968"/>
            <a:ext cx="2359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terkena kawasan perlindungan sawah irigasi → constraint = 0, tanpa coffee shop eksisting.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6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Sistem WebGIS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perhitungan AHP dan WLC diimplementasikan ke antarmuka interaktif dengan dua aktor utama.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B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data dan proses analisis sistem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962656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529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(login/logout)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438144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3284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dataset indikator hasil preprocessing QGIS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913632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039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aturan &amp; hitung nilai fuzzy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389120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7939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bobot AHP (pakar, kriteria, indikator)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864608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7548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&amp; perbarui perhitungan WLC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5340096"/>
            <a:ext cx="91440" cy="914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2303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hasil audit validasi spasial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7F1E8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PELAKU USAHA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2487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hasil dan mensimulasikan strategi bisnis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2926080"/>
            <a:ext cx="310896" cy="310896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84848" y="2889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Kesesuaian Lokasi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84848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kelas kesesuaian tiap grid (Sesuai / Cukup Sesuai / Kurang Sesuai) di atas basemap wilayah studi.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3767328"/>
            <a:ext cx="310896" cy="310896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84848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Grid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84848" y="3995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skor WLC, nilai fuzzy tiap indikator, dan status constraint pada grid tertentu.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55080" y="4608576"/>
            <a:ext cx="310896" cy="310896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84848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Bobot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84848" y="48371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persentase bobot kriteria; sistem menghitung ulang skor &amp; warna peta secara langsung tanpa mengubah bobot default.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5449824"/>
            <a:ext cx="310896" cy="310896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84848" y="5413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Lokasi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84848" y="56784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daftar grid dengan tingkat kesesuaian tinggi sesuai skenario bobot yang dipilih.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Lokasi Coffee Shop  •  Hasil dan Pembahasan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5D403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 Kunci Hasil Penelitian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554480" y="18470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 pasar dominan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permintaan pasar (56,9%) dan indikator kepadatan kampus &amp; fasilitas pendidikan (43,8%) paling menentukan lokasi coffee shop.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269480" y="18470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5,33% lokasi sesuai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69480" y="22860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450 grid, 24 grid tergolong Sesuai — terkonsentrasi di sekitar kampus, jalan utama, dan pusat komersial.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554480" y="42702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bekerja mutlak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470916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sawah dan sungai meniadakan skor kesesuaian meski nilai indikator lain tinggi, terbukti pada validasi GRID-487.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4251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269480" y="42702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WebGIS interaktif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69480" y="470916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Pelaku usaha dapat mensimulasikan bobot kriteria dan langsung melihat pembaruan peta rekomendasi lokasi.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B9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2026-07-15T00:29:31Z</dcterms:created>
  <dcterms:modified xsi:type="dcterms:W3CDTF">2026-07-15T00:29:31Z</dcterms:modified>
</cp:coreProperties>
</file>